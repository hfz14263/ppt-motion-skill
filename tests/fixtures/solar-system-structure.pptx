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61" r:id="rId7"/>
    <p:sldId id="260" r:id="rId8"/>
    <p:sldId id="259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65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360000"/>
            <a:ext cx="60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spc="200">
                <a:solidFill>
                  <a:srgbClr val="ECF0F6"/>
                </a:solidFill>
                <a:latin typeface="Segoe UI"/>
              </a:rPr>
              <a:t>SOLAR SYSTEM · 太阳系漫游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76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8F9EB4"/>
                </a:solidFill>
                <a:latin typeface="Segoe UI"/>
              </a:rPr>
              <a:t>八颗行星，一条旅程，以及 46 亿年的旅程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08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ECF0F6"/>
                </a:solidFill>
                <a:latin typeface="Segoe UI"/>
              </a:rPr>
              <a:t>从太阳出发，依次经过八颗行星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1460500"/>
            <a:ext cx="5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每一站停一次，看清一颗行星，再继续向前。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序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7 月 15 日 · 银河可见 · 夜间观测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900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3175000" y="3543300"/>
            <a:ext cx="0" cy="9017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2540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2540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871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4263571" y="3644900"/>
            <a:ext cx="0" cy="8001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3628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3628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7642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5352142" y="3695700"/>
            <a:ext cx="0" cy="7493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4717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4717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414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6440714" y="3619500"/>
            <a:ext cx="0" cy="8255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5805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5805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2685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7529285" y="3987800"/>
            <a:ext cx="0" cy="4572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6894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6894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7457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8617857" y="3911600"/>
            <a:ext cx="0" cy="5334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7982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7982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3828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9706428" y="3733800"/>
            <a:ext cx="0" cy="7112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9071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9071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800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0795000" y="3708400"/>
            <a:ext cx="0" cy="736600"/>
          </a:xfrm>
          <a:prstGeom prst="line">
            <a:avLst/>
          </a:prstGeom>
          <a:ln w="9525">
            <a:solidFill>
              <a:srgbClr val="8F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0160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spc="1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0160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8F9EB4"/>
                </a:solidFill>
                <a:latin typeface="Segoe UI"/>
              </a:rPr>
              <a:t>海王星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 nodeType="withEffect">
                      <p:stCondLst>
                        <p:cond delay="0"/>
                      </p:stCondLst>
                      <p:childTnLst>
                        <p:par>
                          <p:cTn id="6" fill="hold" presetID="10" presetClass="entr" presetSubtype="0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9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fill="hold" presetID="10" presetClass="entr" presetSubtype="0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fill="hold" presetID="10" presetClass="entr" presetSubtype="0" grpId="0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fill="hold" presetID="10" presetClass="entr" presetSubtype="0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fill="hold" presetID="10" presetClass="entr" presetSubtype="0" grpId="0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fill="hold" presetID="23" presetClass="entr" presetSubtype="16" grpId="0" nodeType="withEffect" accel="30000" decel="30000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14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>
                                  <p:cTn id="24" dur="14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fill="hold" presetID="10" presetClass="entr" presetSubtype="0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fill="hold" presetID="10" presetClass="entr" presetSubtype="0" grpId="0" nodeType="withEffect">
                            <p:stCondLst>
                              <p:cond delay="485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fill="hold" presetID="10" presetClass="entr" presetSubtype="0" grpId="0" nodeType="withEffect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6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fill="hold" presetID="10" presetClass="entr" presetSubtype="0" grpId="0" nodeType="withEffect">
                            <p:stCondLst>
                              <p:cond delay="755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fill="hold" presetID="23" presetClass="entr" presetSubtype="16" grpId="0" nodeType="withEffect">
                            <p:stCondLst>
                              <p:cond delay="8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800" fill="hold"/>
                                  <p:tgtEl>
                                    <p:spTgt spid="2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>
                                  <p:cTn id="40" dur="800" fill="hold"/>
                                  <p:tgtEl>
                                    <p:spTgt spid="2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fill="hold" presetID="23" presetClass="entr" presetSubtype="16" grpId="0" nodeType="withEffect">
                            <p:stCondLst>
                              <p:cond delay="1025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3" dur="800" fill="hold"/>
                                  <p:tgtEl>
                                    <p:spTgt spid="2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>
                                  <p:cTn id="44" dur="800" fill="hold"/>
                                  <p:tgtEl>
                                    <p:spTgt spid="2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fill="hold" presetID="10" presetClass="entr" presetSubtype="0" grpId="0" nodeType="withEffect">
                            <p:stCondLst>
                              <p:cond delay="116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8" fill="hold" presetID="10" presetClass="entr" presetSubtype="0" grpId="0" nodeType="withEffect">
                            <p:stCondLst>
                              <p:cond delay="1295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6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fill="hold" presetID="22" presetClass="entr" presetSubtype="4" grpId="0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3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" fill="hold" presetID="22" presetClass="entr" presetSubtype="4" grpId="0" nodeType="withEffect">
                            <p:stCondLst>
                              <p:cond delay="685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" fill="hold" presetID="22" presetClass="entr" presetSubtype="4" grpId="0" nodeType="with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9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" fill="hold" presetID="22" presetClass="entr" presetSubtype="4" grpId="0" nodeType="withEffect">
                            <p:stCondLst>
                              <p:cond delay="955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2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" fill="hold" presetID="22" presetClass="entr" presetSubtype="4" grpId="0" nodeType="withEffect">
                            <p:stCondLst>
                              <p:cond delay="109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5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" fill="hold" presetID="22" presetClass="entr" presetSubtype="4" grpId="0" nodeType="withEffect">
                            <p:stCondLst>
                              <p:cond delay="1225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8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" fill="hold" presetID="22" presetClass="entr" presetSubtype="4" grpId="0" nodeType="withEffect">
                            <p:stCondLst>
                              <p:cond delay="136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" fill="hold" presetID="22" presetClass="entr" presetSubtype="4" grpId="0" nodeType="withEffect">
                            <p:stCondLst>
                              <p:cond delay="1495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4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fill="hold" presetID="10" presetClass="entr" presetSubtype="0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" fill="hold" presetID="10" presetClass="entr" presetSubtype="0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fill="hold" presetID="10" presetClass="entr" presetSubtype="0" grpId="0" nodeType="withEffect">
                            <p:stCondLst>
                              <p:cond delay="1085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" fill="hold" presetID="10" presetClass="entr" presetSubtype="0" grpId="0" nodeType="withEffect">
                            <p:stCondLst>
                              <p:cond delay="1085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" fill="hold" presetID="10" presetClass="entr" presetSubtype="0" grpId="0" nodeType="withEffect">
                            <p:stCondLst>
                              <p:cond delay="122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fill="hold" presetID="10" presetClass="entr" presetSubtype="0" grpId="0" nodeType="withEffect">
                            <p:stCondLst>
                              <p:cond delay="122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fill="hold" presetID="10" presetClass="entr" presetSubtype="0" grpId="0" nodeType="withEffect">
                            <p:stCondLst>
                              <p:cond delay="1355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fill="hold" presetID="10" presetClass="entr" presetSubtype="0" grpId="0" nodeType="withEffect">
                            <p:stCondLst>
                              <p:cond delay="1355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" fill="hold" presetID="10" presetClass="entr" presetSubtype="0" grpId="0" nodeType="withEffect">
                            <p:stCondLst>
                              <p:cond delay="159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fill="hold" presetID="10" presetClass="entr" presetSubtype="0" grpId="0" nodeType="withEffect">
                            <p:stCondLst>
                              <p:cond delay="159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" fill="hold" presetID="10" presetClass="entr" presetSubtype="0" grpId="0" nodeType="withEffect">
                            <p:stCondLst>
                              <p:cond delay="1725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" fill="hold" presetID="10" presetClass="entr" presetSubtype="0" grpId="0" nodeType="withEffect">
                            <p:stCondLst>
                              <p:cond delay="1725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1" fill="hold" presetID="10" presetClass="entr" presetSubtype="0" grpId="0" nodeType="with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3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4" fill="hold" presetID="10" presetClass="entr" presetSubtype="0" grpId="0" nodeType="withEffect">
                            <p:stCondLst>
                              <p:cond delay="176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7" fill="hold" presetID="10" presetClass="entr" presetSubtype="0" grpId="0" nodeType="withEffect">
                            <p:stCondLst>
                              <p:cond delay="1895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9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0" fill="hold" presetID="10" presetClass="entr" presetSubtype="0" grpId="0" nodeType="withEffect">
                            <p:stCondLst>
                              <p:cond delay="1895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3" fill="hold" presetID="10" presetClass="entr" presetSubtype="0" grpId="0" nodeType="withEffect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5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4" grpId="0" animBg="1"/>
      <p:bldP spid="5" grpId="0" animBg="1"/>
      <p:bldP spid="6" grpId="0" animBg="1"/>
      <p:bldP spid="2" grpId="0" animBg="1"/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3" grpId="0" animBg="1"/>
      <p:bldP spid="37" grpId="0" animBg="1"/>
      <p:bldP spid="10" grpId="0" animBg="1"/>
      <p:bldP spid="14" grpId="0" animBg="1"/>
      <p:bldP spid="18" grpId="0" animBg="1"/>
      <p:bldP spid="22" grpId="0" animBg="1"/>
      <p:bldP spid="26" grpId="0" animBg="1"/>
      <p:bldP spid="30" grpId="0" animBg="1"/>
      <p:bldP spid="34" grpId="0" animBg="1"/>
      <p:bldP spid="3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距太阳 5790 万公里 · 公转一周 88 天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1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1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1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476500"/>
            <a:ext cx="1905000" cy="19050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6096000" y="4432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4953000" y="4991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4953000" y="5270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6300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13970000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4071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15058571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78842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6147142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99114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7235714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885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8324285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30257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9412857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8777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8777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44228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20501428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9866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9866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表面约 465 ℃ · 太阳系最热的行星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2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2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2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70100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1778000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00" y="2222500"/>
            <a:ext cx="2413000" cy="24130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6096000" y="4686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4953000" y="5245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4953000" y="5524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0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13970000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0271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5058571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10542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6147142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75314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7235714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41685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8324285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55657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9412857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8777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8777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927277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距太阳 1.5 亿 km · 已知唯一的生命星球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3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3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3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58671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2866571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1700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1778000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1968500"/>
            <a:ext cx="2921000" cy="2921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6096000" y="4940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4953000" y="5499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4953000" y="5778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0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13970000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21971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5058571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86742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6147142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53114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7235714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67085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8324285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7689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7689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270758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红色来自氧化铁 · 拥有太阳系最高的火山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4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4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4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47242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3955142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60271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2866571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22500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1778000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2286000"/>
            <a:ext cx="2286000" cy="22860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6096000" y="4622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4953000" y="5181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4953000" y="5461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3400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13970000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98171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5058571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64542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6147142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78514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7235714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6600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6600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555790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质量是其余 7 颗行星总和的 2.5 倍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5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5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5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35814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5043714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348842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3955142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11071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2866571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146300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1778000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1397000"/>
            <a:ext cx="4064000" cy="40640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6096000" y="5511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4953000" y="6070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4953000" y="6350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9600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13970000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75971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5058571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89942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6147142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5512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5512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342590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光环宽 28 万 km · 主要由冰块构成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6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6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6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24385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6132285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37414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5043714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99642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3955142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234871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2866571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14600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1778000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500" y="1587500"/>
            <a:ext cx="3683000" cy="36830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6096000" y="53213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4953000" y="58801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4953000" y="61595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87400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13970000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01371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5058571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4423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4423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318530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躺着自转 · 南北极各有 42 年的极昼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7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7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7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12957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7220857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7855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7855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525985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6132285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488214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5043714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323442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3955142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603171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2866571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38400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-1778000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9000" y="2032000"/>
            <a:ext cx="2794000" cy="27940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6096000" y="48768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4953000" y="543560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4953000" y="571500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12800" y="2717800"/>
            <a:ext cx="914400" cy="9144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13970000" y="3708400"/>
            <a:ext cx="0" cy="7366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13335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13335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1720740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N" descr="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45100" y="1750000"/>
            <a:ext cx="3000000" cy="3000000"/>
          </a:xfrm>
          <a:prstGeom prst="rect">
            <a:avLst/>
          </a:prstGeom>
        </p:spPr>
      </p:pic>
      <p:sp>
        <p:nvSpPr>
          <p:cNvPr id="3" name="HDR_TITLE"/>
          <p:cNvSpPr txBox="1"/>
          <p:nvPr/>
        </p:nvSpPr>
        <p:spPr>
          <a:xfrm>
            <a:off x="640000" y="430000"/>
            <a:ext cx="3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spc="3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" name="HDR_CN"/>
          <p:cNvSpPr txBox="1"/>
          <p:nvPr/>
        </p:nvSpPr>
        <p:spPr>
          <a:xfrm>
            <a:off x="640000" y="920000"/>
            <a:ext cx="20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640000" y="1420000"/>
            <a:ext cx="23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ECF0F6"/>
                </a:solidFill>
                <a:latin typeface="Segoe UI"/>
              </a:rPr>
              <a:t>风速可达 2100 km/h · 太阳系最冷行星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40000" y="2600000"/>
            <a:ext cx="2400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8F9EB4"/>
                </a:solidFill>
                <a:latin typeface="Segoe UI"/>
              </a:rPr>
              <a:t>第 8 站 · 距离与构成</a:t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/>
            </a:r>
          </a:p>
          <a:p>
            <a:r>
              <a:rPr sz="1050" b="0">
                <a:solidFill>
                  <a:srgbClr val="8F9EB4"/>
                </a:solidFill>
                <a:latin typeface="Segoe UI"/>
              </a:rPr>
              <a:t>它在太阳系中排第 8 位，绕太阳一周的时间随轨道半径变化。要看清它的细节，需要的不是飞得更近，而是更好的观测方法 —— 这正是下一页要做的事。</a:t>
            </a:r>
          </a:p>
        </p:txBody>
      </p:sp>
      <p:sp>
        <p:nvSpPr>
          <p:cNvPr id="7" name="INDEX"/>
          <p:cNvSpPr txBox="1"/>
          <p:nvPr/>
        </p:nvSpPr>
        <p:spPr>
          <a:xfrm>
            <a:off x="11200000" y="430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8F9EB4"/>
                </a:solidFill>
                <a:latin typeface="Segoe UI"/>
              </a:rPr>
              <a:t>8 / 8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00" y="6180000"/>
            <a:ext cx="4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F9EB4"/>
                </a:solidFill>
                <a:latin typeface="Segoe UI"/>
              </a:rPr>
              <a:t>太阳系漫游指南</a:t>
            </a:r>
          </a:p>
        </p:txBody>
      </p:sp>
      <p:pic>
        <p:nvPicPr>
          <p:cNvPr id="9" name="PLANET_1" descr="mercu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01528" y="2882900"/>
            <a:ext cx="584200" cy="584200"/>
          </a:xfrm>
          <a:prstGeom prst="rect">
            <a:avLst/>
          </a:prstGeom>
        </p:spPr>
      </p:pic>
      <p:cxnSp>
        <p:nvCxnSpPr>
          <p:cNvPr id="10" name="LEAD_1"/>
          <p:cNvCxnSpPr/>
          <p:nvPr/>
        </p:nvCxnSpPr>
        <p:spPr>
          <a:xfrm>
            <a:off x="-8309428" y="3543300"/>
            <a:ext cx="0" cy="9017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_1"/>
          <p:cNvSpPr txBox="1"/>
          <p:nvPr/>
        </p:nvSpPr>
        <p:spPr>
          <a:xfrm>
            <a:off x="-8944428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MERCURY</a:t>
            </a:r>
          </a:p>
        </p:txBody>
      </p:sp>
      <p:sp>
        <p:nvSpPr>
          <p:cNvPr id="12" name="CN_1"/>
          <p:cNvSpPr txBox="1"/>
          <p:nvPr/>
        </p:nvSpPr>
        <p:spPr>
          <a:xfrm>
            <a:off x="-8944428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水星</a:t>
            </a:r>
          </a:p>
        </p:txBody>
      </p:sp>
      <p:pic>
        <p:nvPicPr>
          <p:cNvPr id="13" name="PLANET_2" descr="ven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14557" y="2781300"/>
            <a:ext cx="787400" cy="787400"/>
          </a:xfrm>
          <a:prstGeom prst="rect">
            <a:avLst/>
          </a:prstGeom>
        </p:spPr>
      </p:pic>
      <p:cxnSp>
        <p:nvCxnSpPr>
          <p:cNvPr id="14" name="LEAD_2"/>
          <p:cNvCxnSpPr/>
          <p:nvPr/>
        </p:nvCxnSpPr>
        <p:spPr>
          <a:xfrm>
            <a:off x="-7220857" y="3644900"/>
            <a:ext cx="0" cy="8001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_2"/>
          <p:cNvSpPr txBox="1"/>
          <p:nvPr/>
        </p:nvSpPr>
        <p:spPr>
          <a:xfrm>
            <a:off x="-7855857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VENUS</a:t>
            </a:r>
          </a:p>
        </p:txBody>
      </p:sp>
      <p:sp>
        <p:nvSpPr>
          <p:cNvPr id="16" name="CN_2"/>
          <p:cNvSpPr txBox="1"/>
          <p:nvPr/>
        </p:nvSpPr>
        <p:spPr>
          <a:xfrm>
            <a:off x="-7855857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金星</a:t>
            </a:r>
          </a:p>
        </p:txBody>
      </p:sp>
      <p:pic>
        <p:nvPicPr>
          <p:cNvPr id="17" name="PLANET_3" descr="ea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76785" y="2730500"/>
            <a:ext cx="889000" cy="889000"/>
          </a:xfrm>
          <a:prstGeom prst="rect">
            <a:avLst/>
          </a:prstGeom>
        </p:spPr>
      </p:pic>
      <p:cxnSp>
        <p:nvCxnSpPr>
          <p:cNvPr id="18" name="LEAD_3"/>
          <p:cNvCxnSpPr/>
          <p:nvPr/>
        </p:nvCxnSpPr>
        <p:spPr>
          <a:xfrm>
            <a:off x="-6132285" y="3695700"/>
            <a:ext cx="0" cy="7493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_3"/>
          <p:cNvSpPr txBox="1"/>
          <p:nvPr/>
        </p:nvSpPr>
        <p:spPr>
          <a:xfrm>
            <a:off x="-6767285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EARTH</a:t>
            </a:r>
          </a:p>
        </p:txBody>
      </p:sp>
      <p:sp>
        <p:nvSpPr>
          <p:cNvPr id="20" name="CN_3"/>
          <p:cNvSpPr txBox="1"/>
          <p:nvPr/>
        </p:nvSpPr>
        <p:spPr>
          <a:xfrm>
            <a:off x="-6767285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地球</a:t>
            </a:r>
          </a:p>
        </p:txBody>
      </p:sp>
      <p:pic>
        <p:nvPicPr>
          <p:cNvPr id="21" name="PLANET_4" descr="m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12014" y="2806700"/>
            <a:ext cx="736600" cy="736600"/>
          </a:xfrm>
          <a:prstGeom prst="rect">
            <a:avLst/>
          </a:prstGeom>
        </p:spPr>
      </p:pic>
      <p:cxnSp>
        <p:nvCxnSpPr>
          <p:cNvPr id="22" name="LEAD_4"/>
          <p:cNvCxnSpPr/>
          <p:nvPr/>
        </p:nvCxnSpPr>
        <p:spPr>
          <a:xfrm>
            <a:off x="-5043714" y="3619500"/>
            <a:ext cx="0" cy="8255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4"/>
          <p:cNvSpPr txBox="1"/>
          <p:nvPr/>
        </p:nvSpPr>
        <p:spPr>
          <a:xfrm>
            <a:off x="-5678714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MARS</a:t>
            </a:r>
          </a:p>
        </p:txBody>
      </p:sp>
      <p:sp>
        <p:nvSpPr>
          <p:cNvPr id="24" name="CN_4"/>
          <p:cNvSpPr txBox="1"/>
          <p:nvPr/>
        </p:nvSpPr>
        <p:spPr>
          <a:xfrm>
            <a:off x="-5678714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火星</a:t>
            </a:r>
          </a:p>
        </p:txBody>
      </p:sp>
      <p:pic>
        <p:nvPicPr>
          <p:cNvPr id="25" name="PLANET_5" descr="jupi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691742" y="2438400"/>
            <a:ext cx="1473200" cy="1473200"/>
          </a:xfrm>
          <a:prstGeom prst="rect">
            <a:avLst/>
          </a:prstGeom>
        </p:spPr>
      </p:pic>
      <p:cxnSp>
        <p:nvCxnSpPr>
          <p:cNvPr id="26" name="LEAD_5"/>
          <p:cNvCxnSpPr/>
          <p:nvPr/>
        </p:nvCxnSpPr>
        <p:spPr>
          <a:xfrm>
            <a:off x="-3955142" y="3987800"/>
            <a:ext cx="0" cy="457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_5"/>
          <p:cNvSpPr txBox="1"/>
          <p:nvPr/>
        </p:nvSpPr>
        <p:spPr>
          <a:xfrm>
            <a:off x="-4590142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JUPITER</a:t>
            </a:r>
          </a:p>
        </p:txBody>
      </p:sp>
      <p:sp>
        <p:nvSpPr>
          <p:cNvPr id="28" name="CN_5"/>
          <p:cNvSpPr txBox="1"/>
          <p:nvPr/>
        </p:nvSpPr>
        <p:spPr>
          <a:xfrm>
            <a:off x="-4590142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木星</a:t>
            </a:r>
          </a:p>
        </p:txBody>
      </p:sp>
      <p:pic>
        <p:nvPicPr>
          <p:cNvPr id="29" name="PLANET_6" descr="sat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526971" y="2514600"/>
            <a:ext cx="1320800" cy="1320800"/>
          </a:xfrm>
          <a:prstGeom prst="rect">
            <a:avLst/>
          </a:prstGeom>
        </p:spPr>
      </p:pic>
      <p:cxnSp>
        <p:nvCxnSpPr>
          <p:cNvPr id="30" name="LEAD_6"/>
          <p:cNvCxnSpPr/>
          <p:nvPr/>
        </p:nvCxnSpPr>
        <p:spPr>
          <a:xfrm>
            <a:off x="-2866571" y="391160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ABEL_6"/>
          <p:cNvSpPr txBox="1"/>
          <p:nvPr/>
        </p:nvSpPr>
        <p:spPr>
          <a:xfrm>
            <a:off x="-3501571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SATURN</a:t>
            </a:r>
          </a:p>
        </p:txBody>
      </p:sp>
      <p:sp>
        <p:nvSpPr>
          <p:cNvPr id="32" name="CN_6"/>
          <p:cNvSpPr txBox="1"/>
          <p:nvPr/>
        </p:nvSpPr>
        <p:spPr>
          <a:xfrm>
            <a:off x="-3501571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土星</a:t>
            </a:r>
          </a:p>
        </p:txBody>
      </p:sp>
      <p:pic>
        <p:nvPicPr>
          <p:cNvPr id="33" name="PLANET_7" descr="uran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260600" y="2692400"/>
            <a:ext cx="965200" cy="965200"/>
          </a:xfrm>
          <a:prstGeom prst="rect">
            <a:avLst/>
          </a:prstGeom>
        </p:spPr>
      </p:pic>
      <p:cxnSp>
        <p:nvCxnSpPr>
          <p:cNvPr id="34" name="LEAD_7"/>
          <p:cNvCxnSpPr/>
          <p:nvPr/>
        </p:nvCxnSpPr>
        <p:spPr>
          <a:xfrm>
            <a:off x="-1778000" y="3733800"/>
            <a:ext cx="0" cy="7112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ABEL_7"/>
          <p:cNvSpPr txBox="1"/>
          <p:nvPr/>
        </p:nvSpPr>
        <p:spPr>
          <a:xfrm>
            <a:off x="-2413000" y="44958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URANUS</a:t>
            </a:r>
          </a:p>
        </p:txBody>
      </p:sp>
      <p:sp>
        <p:nvSpPr>
          <p:cNvPr id="36" name="CN_7"/>
          <p:cNvSpPr txBox="1"/>
          <p:nvPr/>
        </p:nvSpPr>
        <p:spPr>
          <a:xfrm>
            <a:off x="-2413000" y="4711700"/>
            <a:ext cx="1270000" cy="25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天王星</a:t>
            </a:r>
          </a:p>
        </p:txBody>
      </p:sp>
      <p:pic>
        <p:nvPicPr>
          <p:cNvPr id="37" name="PLANET_8" descr="neptu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0750" y="2063750"/>
            <a:ext cx="2730500" cy="2730500"/>
          </a:xfrm>
          <a:prstGeom prst="rect">
            <a:avLst/>
          </a:prstGeom>
        </p:spPr>
      </p:pic>
      <p:cxnSp>
        <p:nvCxnSpPr>
          <p:cNvPr id="38" name="LEAD_8"/>
          <p:cNvCxnSpPr/>
          <p:nvPr/>
        </p:nvCxnSpPr>
        <p:spPr>
          <a:xfrm>
            <a:off x="6096000" y="4845050"/>
            <a:ext cx="0" cy="533400"/>
          </a:xfrm>
          <a:prstGeom prst="line">
            <a:avLst/>
          </a:prstGeom>
          <a:ln w="9525">
            <a:solidFill>
              <a:srgbClr val="E8B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_8"/>
          <p:cNvSpPr txBox="1"/>
          <p:nvPr/>
        </p:nvSpPr>
        <p:spPr>
          <a:xfrm>
            <a:off x="4953000" y="5403850"/>
            <a:ext cx="2286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spc="200">
                <a:solidFill>
                  <a:srgbClr val="ECF0F6"/>
                </a:solidFill>
                <a:latin typeface="Segoe UI"/>
              </a:rPr>
              <a:t>NEPTUNE</a:t>
            </a:r>
          </a:p>
        </p:txBody>
      </p:sp>
      <p:sp>
        <p:nvSpPr>
          <p:cNvPr id="40" name="CN_8"/>
          <p:cNvSpPr txBox="1"/>
          <p:nvPr/>
        </p:nvSpPr>
        <p:spPr>
          <a:xfrm>
            <a:off x="4953000" y="5683250"/>
            <a:ext cx="2286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E8B84A"/>
                </a:solidFill>
                <a:latin typeface="Segoe UI"/>
              </a:rPr>
              <a:t>海王星</a:t>
            </a:r>
          </a:p>
        </p:txBody>
      </p:sp>
    </p:spTree>
    <p:extLst>
      <p:ext uri="{BB962C8B-B14F-4D97-AF65-F5344CB8AC3E}">
        <p14:creationId xmlns:p14="http://schemas.microsoft.com/office/powerpoint/2010/main" val="3656443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宽屏</PresentationFormat>
  <Paragraphs>214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2026-10-12T02:16:37Z</dcterms:modified>
  <cp:category/>
</cp:coreProperties>
</file>