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webp" ContentType="image/web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lvl1pPr algn="l">
      <a:defRPr sz="1800"/>
    </a:lvl1pPr>
    <a:lvl2pPr>
      <a:defRPr sz="1400"/>
    </a:lvl2pPr>
    <a:lvl3pPr>
      <a:defRPr sz="1200"/>
    </a:lvl3pPr>
    <a:lvl4pPr>
      <a:defRPr sz="1200"/>
    </a:lvl4pPr>
    <a:lvl5pPr>
      <a:defRPr sz="1200"/>
    </a:lvl5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/>
    </p:titleStyle>
    <p:bodyStyle>
      <a:lvl1pPr algn="l"/>
    </p:bodyStyle>
    <p:otherStyle>
      <a:lvl1pPr algn="l"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ba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2563EB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1" name="glow"/>
          <p:cNvSpPr/>
          <p:nvPr/>
        </p:nvSpPr>
        <p:spPr>
          <a:xfrm>
            <a:off x="8382000" y="431800"/>
            <a:ext cx="3302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2" name="title"/>
          <p:cNvSpPr txBox="1"/>
          <p:nvPr/>
        </p:nvSpPr>
        <p:spPr>
          <a:xfrm>
            <a:off x="1016000" y="1905000"/>
            <a:ext cx="8890000" cy="1143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</a:rPr>
              <a:t>能力验证演示（自建夹具）</a:t>
            </a:r>
          </a:p>
        </p:txBody>
      </p:sp>
      <p:sp>
        <p:nvSpPr>
          <p:cNvPr id="1003" name="sub"/>
          <p:cNvSpPr txBox="1"/>
          <p:nvPr/>
        </p:nvSpPr>
        <p:spPr>
          <a:xfrm>
            <a:off x="1016000" y="3302000"/>
            <a:ext cx="7620000" cy="635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200" b="1">
                <a:solidFill>
                  <a:srgbClr val="CBD5E1"/>
                </a:solidFill>
                <a:latin typeface="微软雅黑"/>
                <a:ea typeface="微软雅黑"/>
              </a:rPr>
              <a:t>PPTD 中间层 · 声明制 · 双轨审阅</a:t>
            </a:r>
          </a:p>
        </p:txBody>
      </p:sp>
      <p:sp>
        <p:nvSpPr>
          <p:cNvPr id="1004" name="badge"/>
          <p:cNvSpPr/>
          <p:nvPr/>
        </p:nvSpPr>
        <p:spPr>
          <a:xfrm>
            <a:off x="1016000" y="5334000"/>
            <a:ext cx="2540000" cy="711200"/>
          </a:xfrm>
          <a:prstGeom prst="chevron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5" name="badge_t"/>
          <p:cNvSpPr txBox="1"/>
          <p:nvPr/>
        </p:nvSpPr>
        <p:spPr>
          <a:xfrm>
            <a:off x="1270000" y="5461000"/>
            <a:ext cx="20320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panel"/>
          <p:cNvSpPr/>
          <p:nvPr/>
        </p:nvSpPr>
        <p:spPr>
          <a:xfrm>
            <a:off x="762000" y="1016000"/>
            <a:ext cx="10668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rtlCol="0" anchor="ctr"/>
          <a:lstStyle/>
          <a:p/>
        </p:txBody>
      </p:sp>
      <p:sp>
        <p:nvSpPr>
          <p:cNvPr id="1007" name="box_a"/>
          <p:cNvSpPr/>
          <p:nvPr/>
        </p:nvSpPr>
        <p:spPr>
          <a:xfrm>
            <a:off x="1270000" y="1651000"/>
            <a:ext cx="4445000" cy="30480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rtlCol="0" anchor="ctr"/>
          <a:lstStyle/>
          <a:p/>
        </p:txBody>
      </p:sp>
      <p:sp>
        <p:nvSpPr>
          <p:cNvPr id="1008" name="box_a_t"/>
          <p:cNvSpPr txBox="1"/>
          <p:nvPr/>
        </p:nvSpPr>
        <p:spPr>
          <a:xfrm>
            <a:off x="1524000" y="1905000"/>
            <a:ext cx="3937000" cy="762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E3A8A"/>
                </a:solidFill>
                <a:latin typeface="微软雅黑"/>
                <a:ea typeface="微软雅黑"/>
              </a:rPr>
              <a:t>领域本体（知识层）</a:t>
            </a:r>
          </a:p>
        </p:txBody>
      </p:sp>
      <p:sp>
        <p:nvSpPr>
          <p:cNvPr id="1009" name="box_a_b"/>
          <p:cNvSpPr txBox="1"/>
          <p:nvPr/>
        </p:nvSpPr>
        <p:spPr>
          <a:xfrm>
            <a:off x="1524000" y="2921000"/>
            <a:ext cx="3937000" cy="152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34155"/>
                </a:solidFill>
                <a:latin typeface="微软雅黑"/>
                <a:ea typeface="微软雅黑"/>
              </a:rPr>
              <a:t>对象·属性·关系·约束</a:t>
            </a:r>
          </a:p>
          <a:p>
            <a:pPr algn="l" lvl="0"/>
            <a:r>
              <a:rPr lang="zh-CN" sz="1400">
                <a:solidFill>
                  <a:srgbClr val="334155"/>
                </a:solidFill>
                <a:latin typeface="微软雅黑"/>
                <a:ea typeface="微软雅黑"/>
              </a:rPr>
              <a:t>换场景 = 换实例，零重构</a:t>
            </a:r>
          </a:p>
        </p:txBody>
      </p:sp>
      <p:sp>
        <p:nvSpPr>
          <p:cNvPr id="1010" name="box_b"/>
          <p:cNvSpPr/>
          <p:nvPr/>
        </p:nvSpPr>
        <p:spPr>
          <a:xfrm>
            <a:off x="6477000" y="1651000"/>
            <a:ext cx="4445000" cy="3048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rtlCol="0" anchor="ctr"/>
          <a:lstStyle/>
          <a:p/>
        </p:txBody>
      </p:sp>
      <p:sp>
        <p:nvSpPr>
          <p:cNvPr id="1011" name="box_b_t"/>
          <p:cNvSpPr txBox="1"/>
          <p:nvPr/>
        </p:nvSpPr>
        <p:spPr>
          <a:xfrm>
            <a:off x="6731000" y="1905000"/>
            <a:ext cx="3937000" cy="762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92400E"/>
                </a:solidFill>
                <a:latin typeface="微软雅黑"/>
                <a:ea typeface="微软雅黑"/>
              </a:rPr>
              <a:t>仿真内核（执行层）</a:t>
            </a:r>
          </a:p>
        </p:txBody>
      </p:sp>
      <p:sp>
        <p:nvSpPr>
          <p:cNvPr id="1012" name="box_b_b"/>
          <p:cNvSpPr txBox="1"/>
          <p:nvPr/>
        </p:nvSpPr>
        <p:spPr>
          <a:xfrm>
            <a:off x="6731000" y="2921000"/>
            <a:ext cx="3937000" cy="152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78350F"/>
                </a:solidFill>
                <a:latin typeface="微软雅黑"/>
                <a:ea typeface="微软雅黑"/>
              </a:rPr>
              <a:t>车间生产·负载评估·计划跟踪</a:t>
            </a:r>
          </a:p>
          <a:p>
            <a:pPr algn="l" lvl="0"/>
            <a:r>
              <a:rPr lang="zh-CN" sz="1400">
                <a:solidFill>
                  <a:srgbClr val="78350F"/>
                </a:solidFill>
                <a:latin typeface="微软雅黑"/>
                <a:ea typeface="微软雅黑"/>
              </a:rPr>
              <a:t>结论可迁移（泛化性）</a:t>
            </a:r>
          </a:p>
        </p:txBody>
      </p:sp>
      <p:cxnSp>
        <p:nvCxnSpPr>
          <p:cNvPr id="1013" name="arrow"/>
          <p:cNvCxnSpPr/>
          <p:nvPr/>
        </p:nvCxnSpPr>
        <p:spPr>
          <a:xfrm>
            <a:off x="5715000" y="3175000"/>
            <a:ext cx="736600" cy="12700"/>
          </a:xfrm>
          <a:prstGeom prst="straightConnector1">
            <a:avLst/>
          </a:prstGeom>
          <a:ln w="25400">
            <a:solidFill>
              <a:srgbClr val="2563EB"/>
            </a:solidFill>
          </a:ln>
          <a:tailEnd type="triangle" w="med" len="med"/>
        </p:spPr>
      </p:cxnSp>
      <p:sp>
        <p:nvSpPr>
          <p:cNvPr id="1014" name="foot"/>
          <p:cNvSpPr txBox="1"/>
          <p:nvPr/>
        </p:nvSpPr>
        <p:spPr>
          <a:xfrm>
            <a:off x="1270000" y="5969000"/>
            <a:ext cx="96520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200">
                <a:solidFill>
                  <a:srgbClr val="64748B"/>
                </a:solidFill>
                <a:latin typeface="微软雅黑"/>
                <a:ea typeface="微软雅黑"/>
              </a:rPr>
              <a:t>知识层 → 映射 → 执行层：本体驱动仿真的泛化范式（A8 场景也在本页）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t_head"/>
          <p:cNvSpPr txBox="1"/>
          <p:nvPr/>
        </p:nvSpPr>
        <p:spPr>
          <a:xfrm>
            <a:off x="762000" y="762000"/>
            <a:ext cx="50800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200" b="1">
                <a:solidFill>
                  <a:srgbClr val="1F2937"/>
                </a:solidFill>
                <a:latin typeface="微软雅黑"/>
                <a:ea typeface="微软雅黑"/>
              </a:rPr>
              <a:t>对策-指标对照表</a:t>
            </a:r>
          </a:p>
        </p:txBody>
      </p:sp>
      <p:graphicFrame>
        <p:nvGraphicFramePr>
          <p:cNvPr id="1016" name="tbl"/>
          <p:cNvGraphicFramePr/>
          <p:nvPr/>
        </p:nvGraphicFramePr>
        <p:xfrm>
          <a:off x="762000" y="1524000"/>
          <a:ext cx="10668000" cy="381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667000"/>
                <a:gridCol w="2667000"/>
                <a:gridCol w="2667000"/>
                <a:gridCol w="2667000"/>
              </a:tblGrid>
              <a:tr h="952500"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1F2937"/>
                          </a:solidFill>
                        </a:rPr>
                        <a:t>对策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1F2937"/>
                          </a:solidFill>
                        </a:rPr>
                        <a:t>指标A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1F2937"/>
                          </a:solidFill>
                        </a:rPr>
                        <a:t>指标B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1F2937"/>
                          </a:solidFill>
                        </a:rPr>
                        <a:t>说明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  <a:marL l="45720" r="45720" t="22860" b="22860"/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lang="zh-CN" sz="1100">
                          <a:solidFill>
                            <a:srgbClr val="1F2937"/>
                          </a:solidFill>
                        </a:rPr>
                        <a:t>线表决策辅助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100">
                          <a:solidFill>
                            <a:srgbClr val="1F2937"/>
                          </a:solidFill>
                        </a:rPr>
                        <a:t>决策响应-32%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100">
                          <a:solidFill>
                            <a:srgbClr val="1F2937"/>
                          </a:solidFill>
                        </a:rPr>
                        <a:t>准确率+12%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100">
                          <a:solidFill>
                            <a:srgbClr val="1F2937"/>
                          </a:solidFill>
                        </a:rPr>
                        <a:t>基线 45.6%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lang="zh-CN" sz="1100">
                          <a:solidFill>
                            <a:srgbClr val="1F2937"/>
                          </a:solidFill>
                        </a:rPr>
                        <a:t>排程优化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100">
                          <a:solidFill>
                            <a:srgbClr val="1F2937"/>
                          </a:solidFill>
                        </a:rPr>
                        <a:t>交付周期-18%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100">
                          <a:solidFill>
                            <a:srgbClr val="1F2937"/>
                          </a:solidFill>
                        </a:rPr>
                        <a:t>利用率+9%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100">
                          <a:solidFill>
                            <a:srgbClr val="1F2937"/>
                          </a:solidFill>
                        </a:rPr>
                        <a:t>中型场景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lang="zh-CN" sz="1100">
                          <a:solidFill>
                            <a:srgbClr val="1F2937"/>
                          </a:solidFill>
                        </a:rPr>
                        <a:t>生产流程仿真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100">
                          <a:solidFill>
                            <a:srgbClr val="1F2937"/>
                          </a:solidFill>
                        </a:rPr>
                        <a:t>节拍-15%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100">
                          <a:solidFill>
                            <a:srgbClr val="1F2937"/>
                          </a:solidFill>
                        </a:rPr>
                        <a:t>一次合格率+8%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100">
                          <a:solidFill>
                            <a:srgbClr val="1F2937"/>
                          </a:solidFill>
                        </a:rPr>
                        <a:t>泛化验证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</a:tr>
            </a:tbl>
          </a:graphicData>
        </a:graphic>
      </p:graphicFrame>
      <p:sp>
        <p:nvSpPr>
          <p:cNvPr id="1017" name="t_note"/>
          <p:cNvSpPr txBox="1"/>
          <p:nvPr/>
        </p:nvSpPr>
        <p:spPr>
          <a:xfrm>
            <a:off x="762000" y="5715000"/>
            <a:ext cx="106680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200">
                <a:solidFill>
                  <a:srgbClr val="64748B"/>
                </a:solidFill>
                <a:latin typeface="微软雅黑"/>
                <a:ea typeface="微软雅黑"/>
              </a:rPr>
              <a:t>注：数据为演示样本（45.6% 为跨页对账演示数字）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c_head"/>
          <p:cNvSpPr txBox="1"/>
          <p:nvPr/>
        </p:nvSpPr>
        <p:spPr>
          <a:xfrm>
            <a:off x="762000" y="762000"/>
            <a:ext cx="50800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200" b="1">
                <a:solidFill>
                  <a:srgbClr val="1F2937"/>
                </a:solidFill>
                <a:latin typeface="微软雅黑"/>
                <a:ea typeface="微软雅黑"/>
              </a:rPr>
              <a:t>仿真运行趋势</a:t>
            </a:r>
          </a:p>
        </p:txBody>
      </p:sp>
      <p:cxnSp>
        <p:nvCxnSpPr>
          <p:cNvPr id="1019" name="chart-L1"/>
          <p:cNvCxnSpPr/>
          <p:nvPr/>
        </p:nvCxnSpPr>
        <p:spPr>
          <a:xfrm>
            <a:off x="2133600" y="1935163"/>
            <a:ext cx="1280160" cy="55563"/>
          </a:xfrm>
          <a:prstGeom prst="straightConnector1">
            <a:avLst/>
          </a:prstGeom>
          <a:ln w="25400">
            <a:solidFill>
              <a:srgbClr val="2563EB"/>
            </a:solidFill>
          </a:ln>
        </p:spPr>
      </p:cxnSp>
      <p:cxnSp>
        <p:nvCxnSpPr>
          <p:cNvPr id="1020" name="chart-L2"/>
          <p:cNvCxnSpPr/>
          <p:nvPr/>
        </p:nvCxnSpPr>
        <p:spPr>
          <a:xfrm>
            <a:off x="3413760" y="1907381"/>
            <a:ext cx="1280160" cy="27781"/>
          </a:xfrm>
          <a:prstGeom prst="straightConnector1">
            <a:avLst/>
          </a:prstGeom>
          <a:ln w="25400">
            <a:solidFill>
              <a:srgbClr val="2563EB"/>
            </a:solidFill>
          </a:ln>
        </p:spPr>
      </p:cxnSp>
      <p:cxnSp>
        <p:nvCxnSpPr>
          <p:cNvPr id="1021" name="chart-L3"/>
          <p:cNvCxnSpPr/>
          <p:nvPr/>
        </p:nvCxnSpPr>
        <p:spPr>
          <a:xfrm>
            <a:off x="4693920" y="1879600"/>
            <a:ext cx="1280160" cy="27781"/>
          </a:xfrm>
          <a:prstGeom prst="straightConnector1">
            <a:avLst/>
          </a:prstGeom>
          <a:ln w="25400">
            <a:solidFill>
              <a:srgbClr val="2563EB"/>
            </a:solidFill>
          </a:ln>
        </p:spPr>
      </p:cxnSp>
      <p:sp>
        <p:nvSpPr>
          <p:cNvPr id="1022" name="chart-d0-0"/>
          <p:cNvSpPr/>
          <p:nvPr/>
        </p:nvSpPr>
        <p:spPr>
          <a:xfrm>
            <a:off x="2095500" y="1952625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3" name="chart-d1-0"/>
          <p:cNvSpPr/>
          <p:nvPr/>
        </p:nvSpPr>
        <p:spPr>
          <a:xfrm>
            <a:off x="3375660" y="1897063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4" name="chart-d2-0"/>
          <p:cNvSpPr/>
          <p:nvPr/>
        </p:nvSpPr>
        <p:spPr>
          <a:xfrm>
            <a:off x="4655820" y="1869281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5" name="chart-d3-0"/>
          <p:cNvSpPr/>
          <p:nvPr/>
        </p:nvSpPr>
        <p:spPr>
          <a:xfrm>
            <a:off x="5935980" y="1841500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6" name="key"/>
          <p:cNvSpPr/>
          <p:nvPr/>
        </p:nvSpPr>
        <p:spPr>
          <a:xfrm>
            <a:off x="7366000" y="1651000"/>
            <a:ext cx="4064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rtlCol="0" anchor="ctr"/>
          <a:lstStyle/>
          <a:p/>
        </p:txBody>
      </p:sp>
      <p:sp>
        <p:nvSpPr>
          <p:cNvPr id="1027" name="key_t"/>
          <p:cNvSpPr txBox="1"/>
          <p:nvPr/>
        </p:nvSpPr>
        <p:spPr>
          <a:xfrm>
            <a:off x="7747000" y="2032000"/>
            <a:ext cx="3302000" cy="762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F2937"/>
                </a:solidFill>
                <a:latin typeface="微软雅黑"/>
                <a:ea typeface="微软雅黑"/>
              </a:rPr>
              <a:t>关键指标</a:t>
            </a:r>
          </a:p>
        </p:txBody>
      </p:sp>
      <p:sp>
        <p:nvSpPr>
          <p:cNvPr id="1028" name="key_body"/>
          <p:cNvSpPr txBox="1"/>
          <p:nvPr/>
        </p:nvSpPr>
        <p:spPr>
          <a:xfrm>
            <a:off x="7747000" y="3048000"/>
            <a:ext cx="3302000" cy="2032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1F2937"/>
                </a:solidFill>
                <a:latin typeface="微软雅黑"/>
                <a:ea typeface="微软雅黑"/>
              </a:rPr>
              <a:t>一次合格率 96%（+8pt）</a:t>
            </a:r>
          </a:p>
          <a:p>
            <a:pPr algn="l" lvl="0"/>
            <a:r>
              <a:rPr lang="zh-CN" sz="1400">
                <a:solidFill>
                  <a:srgbClr val="1F2937"/>
                </a:solidFill>
                <a:latin typeface="微软雅黑"/>
                <a:ea typeface="微软雅黑"/>
              </a:rPr>
              <a:t>综合评 45.6% 提升</a:t>
            </a:r>
          </a:p>
          <a:p>
            <a:pPr algn="l" lvl="0"/>
            <a:r>
              <a:rPr lang="zh-CN" sz="1400">
                <a:solidFill>
                  <a:srgbClr val="1F2937"/>
                </a:solidFill>
                <a:latin typeface="微软雅黑"/>
                <a:ea typeface="微软雅黑"/>
              </a:rPr>
              <a:t>节拍 −15%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tl_head"/>
          <p:cNvSpPr txBox="1"/>
          <p:nvPr/>
        </p:nvSpPr>
        <p:spPr>
          <a:xfrm>
            <a:off x="762000" y="762000"/>
            <a:ext cx="63500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200" b="1">
                <a:solidFill>
                  <a:srgbClr val="1F2937"/>
                </a:solidFill>
                <a:latin typeface="微软雅黑"/>
                <a:ea typeface="微软雅黑"/>
              </a:rPr>
              <a:t>实施路线（五阶段）</a:t>
            </a:r>
          </a:p>
        </p:txBody>
      </p:sp>
      <p:cxnSp>
        <p:nvCxnSpPr>
          <p:cNvPr id="1030" name="tl_line"/>
          <p:cNvCxnSpPr/>
          <p:nvPr/>
        </p:nvCxnSpPr>
        <p:spPr>
          <a:xfrm>
            <a:off x="1016000" y="2540000"/>
            <a:ext cx="9906000" cy="12700"/>
          </a:xfrm>
          <a:prstGeom prst="straightConnector1">
            <a:avLst/>
          </a:prstGeom>
          <a:ln w="25400">
            <a:solidFill>
              <a:srgbClr val="94A3B8"/>
            </a:solidFill>
          </a:ln>
        </p:spPr>
      </p:cxnSp>
      <p:sp>
        <p:nvSpPr>
          <p:cNvPr id="1031" name="st1"/>
          <p:cNvSpPr/>
          <p:nvPr/>
        </p:nvSpPr>
        <p:spPr>
          <a:xfrm>
            <a:off x="762000" y="1778000"/>
            <a:ext cx="1778000" cy="762000"/>
          </a:xfrm>
          <a:prstGeom prst="pentagon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32" name="st1_t"/>
          <p:cNvSpPr txBox="1"/>
          <p:nvPr/>
        </p:nvSpPr>
        <p:spPr>
          <a:xfrm>
            <a:off x="889000" y="1879600"/>
            <a:ext cx="1524000" cy="558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600" b="1">
                <a:solidFill>
                  <a:srgbClr val="FFFFFF"/>
                </a:solidFill>
                <a:latin typeface="微软雅黑"/>
                <a:ea typeface="微软雅黑"/>
              </a:rPr>
              <a:t>建模</a:t>
            </a:r>
          </a:p>
        </p:txBody>
      </p:sp>
      <p:sp>
        <p:nvSpPr>
          <p:cNvPr id="1033" name="st2"/>
          <p:cNvSpPr/>
          <p:nvPr/>
        </p:nvSpPr>
        <p:spPr>
          <a:xfrm>
            <a:off x="2794000" y="1778000"/>
            <a:ext cx="1778000" cy="762000"/>
          </a:xfrm>
          <a:prstGeom prst="pentagon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34" name="st2_t"/>
          <p:cNvSpPr txBox="1"/>
          <p:nvPr/>
        </p:nvSpPr>
        <p:spPr>
          <a:xfrm>
            <a:off x="2921000" y="1879600"/>
            <a:ext cx="1524000" cy="558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600" b="1">
                <a:solidFill>
                  <a:srgbClr val="FFFFFF"/>
                </a:solidFill>
                <a:latin typeface="微软雅黑"/>
                <a:ea typeface="微软雅黑"/>
              </a:rPr>
              <a:t>映射</a:t>
            </a:r>
          </a:p>
        </p:txBody>
      </p:sp>
      <p:sp>
        <p:nvSpPr>
          <p:cNvPr id="1035" name="st3"/>
          <p:cNvSpPr/>
          <p:nvPr/>
        </p:nvSpPr>
        <p:spPr>
          <a:xfrm>
            <a:off x="4826000" y="1778000"/>
            <a:ext cx="1778000" cy="762000"/>
          </a:xfrm>
          <a:prstGeom prst="pentagon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36" name="st3_t"/>
          <p:cNvSpPr txBox="1"/>
          <p:nvPr/>
        </p:nvSpPr>
        <p:spPr>
          <a:xfrm>
            <a:off x="4953000" y="1879600"/>
            <a:ext cx="1524000" cy="558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600" b="1">
                <a:solidFill>
                  <a:srgbClr val="FFFFFF"/>
                </a:solidFill>
                <a:latin typeface="微软雅黑"/>
                <a:ea typeface="微软雅黑"/>
              </a:rPr>
              <a:t>仿真</a:t>
            </a:r>
          </a:p>
        </p:txBody>
      </p:sp>
      <p:sp>
        <p:nvSpPr>
          <p:cNvPr id="1037" name="st4"/>
          <p:cNvSpPr/>
          <p:nvPr/>
        </p:nvSpPr>
        <p:spPr>
          <a:xfrm>
            <a:off x="6858000" y="1778000"/>
            <a:ext cx="1778000" cy="762000"/>
          </a:xfrm>
          <a:prstGeom prst="pentagon">
            <a:avLst/>
          </a:prstGeom>
          <a:solidFill>
            <a:srgbClr val="8B5C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38" name="st4_t"/>
          <p:cNvSpPr txBox="1"/>
          <p:nvPr/>
        </p:nvSpPr>
        <p:spPr>
          <a:xfrm>
            <a:off x="6985000" y="1879600"/>
            <a:ext cx="1524000" cy="558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600" b="1">
                <a:solidFill>
                  <a:srgbClr val="FFFFFF"/>
                </a:solidFill>
                <a:latin typeface="微软雅黑"/>
                <a:ea typeface="微软雅黑"/>
              </a:rPr>
              <a:t>验证</a:t>
            </a:r>
          </a:p>
        </p:txBody>
      </p:sp>
      <p:sp>
        <p:nvSpPr>
          <p:cNvPr id="1039" name="st5"/>
          <p:cNvSpPr/>
          <p:nvPr/>
        </p:nvSpPr>
        <p:spPr>
          <a:xfrm>
            <a:off x="8890000" y="1778000"/>
            <a:ext cx="1778000" cy="762000"/>
          </a:xfrm>
          <a:prstGeom prst="pentagon">
            <a:avLst/>
          </a:prstGeom>
          <a:solidFill>
            <a:srgbClr val="10B98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40" name="st5_t"/>
          <p:cNvSpPr txBox="1"/>
          <p:nvPr/>
        </p:nvSpPr>
        <p:spPr>
          <a:xfrm>
            <a:off x="9017000" y="1879600"/>
            <a:ext cx="1524000" cy="558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600" b="1">
                <a:solidFill>
                  <a:srgbClr val="FFFFFF"/>
                </a:solidFill>
                <a:latin typeface="微软雅黑"/>
                <a:ea typeface="微软雅黑"/>
              </a:rPr>
              <a:t>推广</a:t>
            </a:r>
          </a:p>
        </p:txBody>
      </p:sp>
      <p:sp>
        <p:nvSpPr>
          <p:cNvPr id="1041" name="tl_note"/>
          <p:cNvSpPr txBox="1"/>
          <p:nvPr/>
        </p:nvSpPr>
        <p:spPr>
          <a:xfrm>
            <a:off x="1016000" y="3810000"/>
            <a:ext cx="10160000" cy="1270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1F2937"/>
                </a:solidFill>
                <a:latin typeface="微软雅黑"/>
                <a:ea typeface="微软雅黑"/>
              </a:rPr>
              <a:t>单向推进 + 每阶段门禁：建模评审 → 映射校验 → 仿真对标 → 验证报告 → 批量复制</a:t>
            </a:r>
          </a:p>
          <a:p>
            <a:pPr algn="l" lvl="0"/>
            <a:r>
              <a:rPr lang="zh-CN" sz="1400">
                <a:solidFill>
                  <a:srgbClr val="1F2937"/>
                </a:solidFill>
                <a:latin typeface="微软雅黑"/>
                <a:ea typeface="微软雅黑"/>
              </a:rPr>
              <a:t>（时间线为示意图，非真实排期）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lt_head"/>
          <p:cNvSpPr txBox="1"/>
          <p:nvPr/>
        </p:nvSpPr>
        <p:spPr>
          <a:xfrm>
            <a:off x="762000" y="762000"/>
            <a:ext cx="63500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200" b="1">
                <a:solidFill>
                  <a:srgbClr val="1F2937"/>
                </a:solidFill>
                <a:latin typeface="微软雅黑"/>
                <a:ea typeface="微软雅黑"/>
              </a:rPr>
              <a:t>长文本容纳（保守估算 + 显式断行）</a:t>
            </a:r>
          </a:p>
        </p:txBody>
      </p:sp>
      <p:sp>
        <p:nvSpPr>
          <p:cNvPr id="1043" name="lt_body"/>
          <p:cNvSpPr txBox="1"/>
          <p:nvPr/>
        </p:nvSpPr>
        <p:spPr>
          <a:xfrm>
            <a:off x="762000" y="1651000"/>
            <a:ext cx="10668000" cy="431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1F2937"/>
                </a:solidFill>
                <a:latin typeface="微软雅黑"/>
                <a:ea typeface="微软雅黑"/>
              </a:rPr>
              <a:t>这一段用于验证长文本在保守估算下的处理：中文全角加粗按 1.06 系数、行高 1.2、标点禁则——</a:t>
            </a:r>
          </a:p>
          <a:p>
            <a:pPr algn="l" lvl="0"/>
            <a:r>
              <a:rPr lang="zh-CN" sz="1400">
                <a:solidFill>
                  <a:srgbClr val="1F2937"/>
                </a:solidFill>
                <a:latin typeface="微软雅黑"/>
                <a:ea typeface="微软雅黑"/>
              </a:rPr>
              <a:t>显式断行是长句的最佳实践，容器也必须给足高度。</a:t>
            </a:r>
          </a:p>
          <a:p>
            <a:pPr algn="l" lvl="0"/>
            <a:r>
              <a:rPr lang="zh-CN" sz="1400">
                <a:solidFill>
                  <a:srgbClr val="1F2937"/>
                </a:solidFill>
                <a:latin typeface="微软雅黑"/>
                <a:ea typeface="微软雅黑"/>
              </a:rPr>
              <a:t>本夹具故意把每行控制在 40 字以内，并预留 340px 高度（约 20 行×16.8px），确保门禁零错误，</a:t>
            </a:r>
          </a:p>
          <a:p>
            <a:pPr algn="l" lvl="0"/>
            <a:r>
              <a:rPr lang="zh-CN" sz="1400">
                <a:solidFill>
                  <a:srgbClr val="1F2937"/>
                </a:solidFill>
                <a:latin typeface="微软雅黑"/>
                <a:ea typeface="微软雅黑"/>
              </a:rPr>
              <a:t>同时验证保守估算不误报：若容器足够，estimate 与实测应一致。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logo"/>
          <p:cNvSpPr/>
          <p:nvPr/>
        </p:nvSpPr>
        <p:spPr>
          <a:xfrm>
            <a:off x="11366500" y="101600"/>
            <a:ext cx="508000" cy="381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45" name="logo_t"/>
          <p:cNvSpPr txBox="1"/>
          <p:nvPr/>
        </p:nvSpPr>
        <p:spPr>
          <a:xfrm>
            <a:off x="11391900" y="152400"/>
            <a:ext cx="4572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400">
                <a:solidFill>
                  <a:srgbClr val="FFFFFF"/>
                </a:solidFill>
                <a:latin typeface="微软雅黑"/>
                <a:ea typeface="微软雅黑"/>
              </a:rPr>
              <a:t>S</a:t>
            </a:r>
          </a:p>
        </p:txBody>
      </p:sp>
      <p:sp>
        <p:nvSpPr>
          <p:cNvPr id="1046" name="sa_title"/>
          <p:cNvSpPr txBox="1"/>
          <p:nvPr/>
        </p:nvSpPr>
        <p:spPr>
          <a:xfrm>
            <a:off x="762000" y="889000"/>
            <a:ext cx="76200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200" b="1">
                <a:solidFill>
                  <a:srgbClr val="1F2937"/>
                </a:solidFill>
                <a:latin typeface="微软雅黑"/>
                <a:ea typeface="微软雅黑"/>
              </a:rPr>
              <a:t>安全区与页脚带声明（logo 落在安全区外）</a:t>
            </a:r>
          </a:p>
        </p:txBody>
      </p:sp>
      <p:sp>
        <p:nvSpPr>
          <p:cNvPr id="1047" name="sa_body"/>
          <p:cNvSpPr txBox="1"/>
          <p:nvPr/>
        </p:nvSpPr>
        <p:spPr>
          <a:xfrm>
            <a:off x="762000" y="1778000"/>
            <a:ext cx="10668000" cy="2540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1F2937"/>
                </a:solidFill>
                <a:latin typeface="微软雅黑"/>
                <a:ea typeface="微软雅黑"/>
              </a:rPr>
              <a:t>主题 safeArea 定义为顶/底/左/右 34/26/40/40px：内容不得侵入。</a:t>
            </a:r>
          </a:p>
          <a:p>
            <a:pPr algn="l" lvl="0"/>
            <a:r>
              <a:rPr lang="zh-CN" sz="1400">
                <a:solidFill>
                  <a:srgbClr val="1F2937"/>
                </a:solidFill>
                <a:latin typeface="微软雅黑"/>
                <a:ea typeface="微软雅黑"/>
              </a:rPr>
              <a:t>页脚带（y≥514）属于安全区外——如需放角标，用 expectedOutOfSafeArea 声明（已声明 logo）。</a:t>
            </a:r>
          </a:p>
        </p:txBody>
      </p:sp>
      <p:sp>
        <p:nvSpPr>
          <p:cNvPr id="1048" name="footer"/>
          <p:cNvSpPr/>
          <p:nvPr/>
        </p:nvSpPr>
        <p:spPr>
          <a:xfrm>
            <a:off x="0" y="6527800"/>
            <a:ext cx="121920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49" name="footer_t"/>
          <p:cNvSpPr txBox="1"/>
          <p:nvPr/>
        </p:nvSpPr>
        <p:spPr>
          <a:xfrm>
            <a:off x="762000" y="6578600"/>
            <a:ext cx="38100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200">
                <a:solidFill>
                  <a:srgbClr val="64748B"/>
                </a:solidFill>
                <a:latin typeface="微软雅黑"/>
                <a:ea typeface="微软雅黑"/>
              </a:rPr>
              <a:t>页脚带：夹具页脚 © v1.0.0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ct_head"/>
          <p:cNvSpPr txBox="1"/>
          <p:nvPr/>
        </p:nvSpPr>
        <p:spPr>
          <a:xfrm>
            <a:off x="762000" y="762000"/>
            <a:ext cx="76200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200" b="1">
                <a:solidFill>
                  <a:srgbClr val="1F2937"/>
                </a:solidFill>
                <a:latin typeface="微软雅黑"/>
                <a:ea typeface="微软雅黑"/>
              </a:rPr>
              <a:t>对比度承载面（渐变深底白字）</a:t>
            </a:r>
          </a:p>
        </p:txBody>
      </p:sp>
      <p:sp>
        <p:nvSpPr>
          <p:cNvPr id="1051" name="carrier"/>
          <p:cNvSpPr/>
          <p:nvPr/>
        </p:nvSpPr>
        <p:spPr>
          <a:xfrm>
            <a:off x="762000" y="1905000"/>
            <a:ext cx="5080000" cy="2286000"/>
          </a:xfrm>
          <a:prstGeom prst="parallelogram">
            <a:avLst>
              <a:gd name="adj" fmla="val 25000"/>
            </a:avLst>
          </a:prstGeom>
          <a:gradFill rotWithShape="1">
            <a:gsLst>
              <a:gs pos="0">
                <a:srgbClr val="0F172A"/>
              </a:gs>
              <a:gs pos="100000">
                <a:srgbClr val="2563EB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52" name="carrier_t"/>
          <p:cNvSpPr txBox="1"/>
          <p:nvPr/>
        </p:nvSpPr>
        <p:spPr>
          <a:xfrm>
            <a:off x="1397000" y="2921000"/>
            <a:ext cx="3810000" cy="762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600" b="1">
                <a:solidFill>
                  <a:srgbClr val="FFFFFF"/>
                </a:solidFill>
                <a:latin typeface="微软雅黑"/>
                <a:ea typeface="微软雅黑"/>
              </a:rPr>
              <a:t>深底上的白字</a:t>
            </a:r>
          </a:p>
        </p:txBody>
      </p:sp>
      <p:sp>
        <p:nvSpPr>
          <p:cNvPr id="1053" name="ct_note"/>
          <p:cNvSpPr txBox="1"/>
          <p:nvPr/>
        </p:nvSpPr>
        <p:spPr>
          <a:xfrm>
            <a:off x="6604000" y="2159000"/>
            <a:ext cx="4826000" cy="177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1F2937"/>
                </a:solidFill>
                <a:latin typeface="微软雅黑"/>
                <a:ea typeface="微软雅黑"/>
              </a:rPr>
              <a:t>对比度启发式以最近承载面（渐变中途 stop）为基准——本页不应报"白字 vs 页面背景"误报。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cg_head"/>
          <p:cNvSpPr txBox="1"/>
          <p:nvPr/>
        </p:nvSpPr>
        <p:spPr>
          <a:xfrm>
            <a:off x="762000" y="762000"/>
            <a:ext cx="76200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200" b="1">
                <a:solidFill>
                  <a:srgbClr val="1F2937"/>
                </a:solidFill>
                <a:latin typeface="微软雅黑"/>
                <a:ea typeface="微软雅黑"/>
              </a:rPr>
              <a:t>custGeom 自定义几何（弧带装饰）</a:t>
            </a:r>
          </a:p>
        </p:txBody>
      </p:sp>
      <p:sp>
        <p:nvSpPr>
          <p:cNvPr id="1055" name="arc"/>
          <p:cNvSpPr/>
          <p:nvPr/>
        </p:nvSpPr>
        <p:spPr>
          <a:xfrm>
            <a:off x="7620000" y="4064000"/>
            <a:ext cx="4064000" cy="2540000"/>
          </a:xfrm>
          <a:custGeom>
            <a:avLst/>
            <a:gdLst/>
            <a:ahLst/>
            <a:cxnLst/>
            <a:rect l="l" t="t" r="r" b="b"/>
            <a:pathLst>
              <a:path w="320" h="200">
                <a:moveTo>
                  <a:pt x="0" y="200"/>
                </a:moveTo>
                <a:arcTo wR="160" hR="100" stAng="0" swAng="5400000"/>
                <a:lnTo>
                  <a:pt x="200" y="60"/>
                </a:lnTo>
                <a:cubicBezTo>
                  <a:pt x="180" y="40"/>
                  <a:pt x="120" y="20"/>
                  <a:pt x="0" y="20"/>
                </a:cubicBezTo>
                <a:close/>
              </a:path>
            </a:pathLst>
          </a:custGeom>
          <a:solidFill>
            <a:srgbClr val="2563EB">
              <a:alpha val="35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56" name="cg_body"/>
          <p:cNvSpPr txBox="1"/>
          <p:nvPr/>
        </p:nvSpPr>
        <p:spPr>
          <a:xfrm>
            <a:off x="762000" y="1778000"/>
            <a:ext cx="6350000" cy="2032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1F2937"/>
                </a:solidFill>
                <a:latin typeface="微软雅黑"/>
                <a:ea typeface="微软雅黑"/>
              </a:rPr>
              <a:t>弧带为装饰层（role: decoration 豁免重叠）；几何：moveTo/arcTo/lnTo/cubicBezTo/close。</a:t>
            </a:r>
          </a:p>
        </p:txBody>
      </p:sp>
      <p:sp>
        <p:nvSpPr>
          <p:cNvPr id="1057" name="deco"/>
          <p:cNvSpPr/>
          <p:nvPr/>
        </p:nvSpPr>
        <p:spPr>
          <a:xfrm>
            <a:off x="8890000" y="762000"/>
            <a:ext cx="1524000" cy="1524000"/>
          </a:xfrm>
          <a:prstGeom prst="ellipse">
            <a:avLst/>
          </a:prstGeom>
          <a:solidFill>
            <a:srgbClr val="F59E0B">
              <a:alpha val="30000"/>
            </a:srgbClr>
          </a:solidFill>
          <a:ln>
            <a:noFill/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num_card"/>
          <p:cNvSpPr/>
          <p:nvPr/>
        </p:nvSpPr>
        <p:spPr>
          <a:xfrm>
            <a:off x="762000" y="1143000"/>
            <a:ext cx="48260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rtlCol="0" anchor="ctr"/>
          <a:lstStyle/>
          <a:p/>
        </p:txBody>
      </p:sp>
      <p:sp>
        <p:nvSpPr>
          <p:cNvPr id="1059" name="num_v"/>
          <p:cNvSpPr txBox="1"/>
          <p:nvPr/>
        </p:nvSpPr>
        <p:spPr>
          <a:xfrm>
            <a:off x="1270000" y="1524000"/>
            <a:ext cx="3810000" cy="1016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3200" b="1">
                <a:solidFill>
                  <a:srgbClr val="2563EB"/>
                </a:solidFill>
                <a:latin typeface="微软雅黑"/>
                <a:ea typeface="微软雅黑"/>
              </a:rPr>
              <a:t>45.6%</a:t>
            </a:r>
          </a:p>
        </p:txBody>
      </p:sp>
      <p:sp>
        <p:nvSpPr>
          <p:cNvPr id="1060" name="num_l"/>
          <p:cNvSpPr txBox="1"/>
          <p:nvPr/>
        </p:nvSpPr>
        <p:spPr>
          <a:xfrm>
            <a:off x="1270000" y="2794000"/>
            <a:ext cx="38100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200">
                <a:solidFill>
                  <a:srgbClr val="64748B"/>
                </a:solidFill>
                <a:latin typeface="微软雅黑"/>
                <a:ea typeface="微软雅黑"/>
              </a:rPr>
              <a:t>综合效率提升（与 04 页同值）</a:t>
            </a:r>
          </a:p>
        </p:txBody>
      </p:sp>
      <p:sp>
        <p:nvSpPr>
          <p:cNvPr id="1061" name="num_note"/>
          <p:cNvSpPr txBox="1"/>
          <p:nvPr/>
        </p:nvSpPr>
        <p:spPr>
          <a:xfrm>
            <a:off x="6096000" y="1524000"/>
            <a:ext cx="5334000" cy="2032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1F2937"/>
                </a:solidFill>
                <a:latin typeface="微软雅黑"/>
                <a:ea typeface="微软雅黑"/>
              </a:rPr>
              <a:t>跨页对账演示：本页 45.6% 与第 04 页 key_body 的 45.6% 应被 ppt_crosscheck 归为一组。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sec_ba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63" name="sec_num"/>
          <p:cNvSpPr txBox="1"/>
          <p:nvPr/>
        </p:nvSpPr>
        <p:spPr>
          <a:xfrm>
            <a:off x="1016000" y="2286000"/>
            <a:ext cx="3810000" cy="152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3200" b="1">
                <a:solidFill>
                  <a:srgbClr val="F59E0B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064" name="sec_t"/>
          <p:cNvSpPr txBox="1"/>
          <p:nvPr/>
        </p:nvSpPr>
        <p:spPr>
          <a:xfrm>
            <a:off x="5080000" y="2540000"/>
            <a:ext cx="6096000" cy="1016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</a:rPr>
              <a:t>验证与展望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sm_head"/>
          <p:cNvSpPr txBox="1"/>
          <p:nvPr/>
        </p:nvSpPr>
        <p:spPr>
          <a:xfrm>
            <a:off x="762000" y="762000"/>
            <a:ext cx="76200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200" b="1">
                <a:solidFill>
                  <a:srgbClr val="1F2937"/>
                </a:solidFill>
                <a:latin typeface="微软雅黑"/>
                <a:ea typeface="微软雅黑"/>
              </a:rPr>
              <a:t>总结：一条可验证的生产线</a:t>
            </a:r>
          </a:p>
        </p:txBody>
      </p:sp>
      <p:sp>
        <p:nvSpPr>
          <p:cNvPr id="1066" name="sm_a"/>
          <p:cNvSpPr/>
          <p:nvPr/>
        </p:nvSpPr>
        <p:spPr>
          <a:xfrm>
            <a:off x="762000" y="1651000"/>
            <a:ext cx="3302000" cy="22860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67" name="sm_a_t"/>
          <p:cNvSpPr txBox="1"/>
          <p:nvPr/>
        </p:nvSpPr>
        <p:spPr>
          <a:xfrm>
            <a:off x="1016000" y="1905000"/>
            <a:ext cx="2794000" cy="762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600" b="1">
                <a:solidFill>
                  <a:srgbClr val="1E3A8A"/>
                </a:solidFill>
                <a:latin typeface="微软雅黑"/>
                <a:ea typeface="微软雅黑"/>
              </a:rPr>
              <a:t>声明制</a:t>
            </a:r>
          </a:p>
        </p:txBody>
      </p:sp>
      <p:sp>
        <p:nvSpPr>
          <p:cNvPr id="1068" name="sm_a_b"/>
          <p:cNvSpPr txBox="1"/>
          <p:nvPr/>
        </p:nvSpPr>
        <p:spPr>
          <a:xfrm>
            <a:off x="1016000" y="2794000"/>
            <a:ext cx="2794000" cy="889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1F2937"/>
                </a:solidFill>
                <a:latin typeface="微软雅黑"/>
                <a:ea typeface="微软雅黑"/>
              </a:rPr>
              <a:t>冲突防不住？声明设计意图</a:t>
            </a:r>
          </a:p>
        </p:txBody>
      </p:sp>
      <p:sp>
        <p:nvSpPr>
          <p:cNvPr id="1069" name="sm_b"/>
          <p:cNvSpPr/>
          <p:nvPr/>
        </p:nvSpPr>
        <p:spPr>
          <a:xfrm>
            <a:off x="4445000" y="1651000"/>
            <a:ext cx="3302000" cy="2286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70" name="sm_b_t"/>
          <p:cNvSpPr txBox="1"/>
          <p:nvPr/>
        </p:nvSpPr>
        <p:spPr>
          <a:xfrm>
            <a:off x="4699000" y="1905000"/>
            <a:ext cx="2794000" cy="762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600" b="1">
                <a:solidFill>
                  <a:srgbClr val="92400E"/>
                </a:solidFill>
                <a:latin typeface="微软雅黑"/>
                <a:ea typeface="微软雅黑"/>
              </a:rPr>
              <a:t>双轨审阅</a:t>
            </a:r>
          </a:p>
        </p:txBody>
      </p:sp>
      <p:sp>
        <p:nvSpPr>
          <p:cNvPr id="1071" name="sm_b_b"/>
          <p:cNvSpPr txBox="1"/>
          <p:nvPr/>
        </p:nvSpPr>
        <p:spPr>
          <a:xfrm>
            <a:off x="4699000" y="2794000"/>
            <a:ext cx="2794000" cy="889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1F2937"/>
                </a:solidFill>
                <a:latin typeface="微软雅黑"/>
                <a:ea typeface="微软雅黑"/>
              </a:rPr>
              <a:t>数字门禁 + 视觉审阅 + 真渲染</a:t>
            </a:r>
          </a:p>
        </p:txBody>
      </p:sp>
      <p:sp>
        <p:nvSpPr>
          <p:cNvPr id="1072" name="sm_c"/>
          <p:cNvSpPr/>
          <p:nvPr/>
        </p:nvSpPr>
        <p:spPr>
          <a:xfrm>
            <a:off x="8128000" y="1651000"/>
            <a:ext cx="3302000" cy="2286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73" name="sm_c_t"/>
          <p:cNvSpPr txBox="1"/>
          <p:nvPr/>
        </p:nvSpPr>
        <p:spPr>
          <a:xfrm>
            <a:off x="8382000" y="1905000"/>
            <a:ext cx="2794000" cy="762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600" b="1">
                <a:solidFill>
                  <a:srgbClr val="065F46"/>
                </a:solidFill>
                <a:latin typeface="微软雅黑"/>
                <a:ea typeface="微软雅黑"/>
              </a:rPr>
              <a:t>保真交付</a:t>
            </a:r>
          </a:p>
        </p:txBody>
      </p:sp>
      <p:sp>
        <p:nvSpPr>
          <p:cNvPr id="1074" name="sm_c_b"/>
          <p:cNvSpPr txBox="1"/>
          <p:nvPr/>
        </p:nvSpPr>
        <p:spPr>
          <a:xfrm>
            <a:off x="8382000" y="2794000"/>
            <a:ext cx="2794000" cy="889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1F2937"/>
                </a:solidFill>
                <a:latin typeface="微软雅黑"/>
                <a:ea typeface="微软雅黑"/>
              </a:rPr>
              <a:t>splice / slice / patch</a:t>
            </a:r>
          </a:p>
        </p:txBody>
      </p:sp>
      <p:sp>
        <p:nvSpPr>
          <p:cNvPr id="1075" name="sm_foot"/>
          <p:cNvSpPr txBox="1"/>
          <p:nvPr/>
        </p:nvSpPr>
        <p:spPr>
          <a:xfrm>
            <a:off x="762000" y="4572000"/>
            <a:ext cx="10668000" cy="1143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1F2937"/>
                </a:solidFill>
                <a:latin typeface="微软雅黑"/>
                <a:ea typeface="微软雅黑"/>
              </a:rPr>
              <a:t>结论：元素区块冲突被机器防住（声明制），质量可验证（三轨），保真可一指令（splice）。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io">
  <a:themeElements>
    <a:clrScheme name="Studio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F59E0B"/>
      </a:accent2>
      <a:accent3>
        <a:srgbClr val="10B981"/>
      </a:accent3>
      <a:accent4>
        <a:srgbClr val="EF4444"/>
      </a:accent4>
      <a:accent5>
        <a:srgbClr val="8B5CF6"/>
      </a:accent5>
      <a:accent6>
        <a:srgbClr val="06B6D4"/>
      </a:accent6>
      <a:hlink>
        <a:srgbClr val="2563EB"/>
      </a:hlink>
      <a:folHlink>
        <a:srgbClr val="7C3AED"/>
      </a:folHlink>
    </a:clrScheme>
    <a:fontScheme name="Studio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Studi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dsh-ppt-studio</Application>
  <Slides>12</Slides>
</Properties>
</file>

<file path=docProps/core.xml><?xml version="1.0" encoding="utf-8"?>
<cp:coreProperties xmlns:cp="http://schemas.openxmlformats.org/package/2006/metadata/core-properties" xmlns:dc="http://purl.org/dc/elements/1.1/">
  <dc:title>能力验证演示</dc:title>
  <dc:creator>dsh-ppt-studio</dc:creator>
  <cp:lastModifiedBy>dsh-ppt-studio</cp:lastModifiedBy>
  <dcterms:created xmlns:dcterms="http://purl.org/dc/terms/" xmlns:xsi="http://www.w3.org/2001/XMLSchema-instance" xsi:type="dcterms:W3CDTF">2026-09-05T10:44:37.118Z</dcterms:created>
  <dcterms:modified xmlns:dcterms="http://purl.org/dc/terms/" xmlns:xsi="http://www.w3.org/2001/XMLSchema-instance" xsi:type="dcterms:W3CDTF">2026-09-05T10:44:37.118Z</dcterms:modified>
</cp:coreProperties>
</file>